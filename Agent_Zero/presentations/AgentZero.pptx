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100584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Segoe UI"/>
              </a:defRPr>
            </a:pPr>
            <a:r>
              <a:t>Agent Zero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486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00D4FF"/>
                </a:solidFill>
                <a:latin typeface="Segoe UI"/>
              </a:defRPr>
            </a:pPr>
            <a:r>
              <a:t>Stop Reading Email. Start Acting.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THE PROBLEM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554480"/>
            <a:ext cx="1737360" cy="96012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54864" cy="960120"/>
          </a:xfrm>
          <a:prstGeom prst="roundRect">
            <a:avLst>
              <a:gd name="adj" fmla="val 2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002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28%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965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of a knowledge worker’s</a:t>
            </a:r>
            <a:br/>
            <a:r>
              <a:t>day spent reading email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423160" y="1554480"/>
            <a:ext cx="1737360" cy="96012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2423160" y="1554480"/>
            <a:ext cx="54864" cy="960120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60320" y="16002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30–60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1965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daily wasted scanning</a:t>
            </a:r>
            <a:br/>
            <a:r>
              <a:t>for action items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79" y="1554480"/>
            <a:ext cx="1737360" cy="96012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97679" y="1554480"/>
            <a:ext cx="54864" cy="960120"/>
          </a:xfrm>
          <a:prstGeom prst="roundRect">
            <a:avLst>
              <a:gd name="adj" fmla="val 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34839" y="1600200"/>
            <a:ext cx="1508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Segoe UI"/>
              </a:defRPr>
            </a:pPr>
            <a:r>
              <a:t>Missed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19" y="1965960"/>
            <a:ext cx="15544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deadlines, lost context,</a:t>
            </a:r>
            <a:br/>
            <a:r>
              <a:t>dropped threads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2651760"/>
            <a:ext cx="5532120" cy="50292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697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E0E0E0"/>
                </a:solidFill>
                <a:latin typeface="Segoe UI"/>
              </a:defRPr>
            </a:pPr>
            <a:r>
              <a:t>Outlook lets you read messages — not act on them. No agent exists that turns M365 conversations into tracked action items over time.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329184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THE SOLUTION — 4 SPECIALIZED AI AGENTS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3703320"/>
            <a:ext cx="5532120" cy="64008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548640" y="3703320"/>
            <a:ext cx="54864" cy="640080"/>
          </a:xfrm>
          <a:prstGeom prst="roundRect">
            <a:avLst>
              <a:gd name="adj" fmla="val 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3813048"/>
            <a:ext cx="201168" cy="20116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3813048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51560" y="3749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Discovery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0" y="3749040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60A5FA"/>
                </a:solidFill>
                <a:latin typeface="Segoe UI"/>
              </a:defRPr>
            </a:pPr>
            <a:r>
              <a:t>~60s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51560" y="400507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Scans email &amp; Teams subjects. Identifies actionable messages. Creates task cards with title, source, sender, and direct link.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48640" y="4416552"/>
            <a:ext cx="5532120" cy="64008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48640" y="4416552"/>
            <a:ext cx="54864" cy="640080"/>
          </a:xfrm>
          <a:prstGeom prst="roundRect">
            <a:avLst>
              <a:gd name="adj" fmla="val 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77240" y="4526280"/>
            <a:ext cx="201168" cy="20116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77240" y="4526280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2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4462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Enrichment Agent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4462272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34D399"/>
                </a:solidFill>
                <a:latin typeface="Segoe UI"/>
              </a:defRPr>
            </a:pPr>
            <a:r>
              <a:t>~60–300s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51560" y="4718304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Extracts full conversation content. Generates summaries with temporal awareness. Detects ambiguities and asks clarifying questions.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48640" y="5129783"/>
            <a:ext cx="5532120" cy="64008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48640" y="5129783"/>
            <a:ext cx="54864" cy="640080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777240" y="5239511"/>
            <a:ext cx="201168" cy="201168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77240" y="5239511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51560" y="5175503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Update Check Agent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5175503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FBBF24"/>
                </a:solidFill>
                <a:latin typeface="Segoe UI"/>
              </a:defRPr>
            </a:pPr>
            <a:r>
              <a:t>~30–90s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1560" y="5431535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Detects new replies since last check. Updates summaries with only new information. Runs on every scan cycle.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48640" y="5843016"/>
            <a:ext cx="5532120" cy="64008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548640" y="5843016"/>
            <a:ext cx="54864" cy="640080"/>
          </a:xfrm>
          <a:prstGeom prst="roundRect">
            <a:avLst>
              <a:gd name="adj" fmla="val 2000"/>
            </a:avLst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77240" y="5952744"/>
            <a:ext cx="201168" cy="201168"/>
          </a:xfrm>
          <a:prstGeom prst="ellipse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5952744"/>
            <a:ext cx="201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Segoe UI"/>
              </a:defRPr>
            </a:pPr>
            <a:r>
              <a:t>4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1560" y="5888736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Segoe UI"/>
              </a:defRPr>
            </a:pPr>
            <a:r>
              <a:t>Search Agent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0" y="5888736"/>
            <a:ext cx="914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900" b="0">
                <a:solidFill>
                  <a:srgbClr val="00D4FF"/>
                </a:solidFill>
                <a:latin typeface="Segoe UI"/>
              </a:defRPr>
            </a:pPr>
            <a:r>
              <a:t>~30–120s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51560" y="6144768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Goal-oriented search with 3-attempt strategy, self-assessment, confidence levels, and bilingual keyword support.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400800" y="11887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BUSINESS VALUE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6400800" y="1554480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6400800" y="1554480"/>
            <a:ext cx="54864" cy="457200"/>
          </a:xfrm>
          <a:prstGeom prst="roundRect">
            <a:avLst>
              <a:gd name="adj" fmla="val 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583680" y="1572768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⏱  30–60 min saved daily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583680" y="1792224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Eliminates manual email/Teams scanning per knowledge worker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400800" y="2084831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6400800" y="2084831"/>
            <a:ext cx="54864" cy="457200"/>
          </a:xfrm>
          <a:prstGeom prst="roundRect">
            <a:avLst>
              <a:gd name="adj" fmla="val 2000"/>
            </a:avLst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6583680" y="2103119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🎯  Zero missed action items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583680" y="2322575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AI identifies tasks humans might overlook in busy inboxes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6400800" y="2615184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6400800" y="2615184"/>
            <a:ext cx="54864" cy="457200"/>
          </a:xfrm>
          <a:prstGeom prst="roundRect">
            <a:avLst>
              <a:gd name="adj" fmla="val 2000"/>
            </a:avLst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583680" y="2633472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🔄  Automatic thread monitoring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583680" y="285292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Continuous update checks — stay current without effort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6400800" y="3145535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ounded Rectangle 62"/>
          <p:cNvSpPr/>
          <p:nvPr/>
        </p:nvSpPr>
        <p:spPr>
          <a:xfrm>
            <a:off x="6400800" y="3145535"/>
            <a:ext cx="54864" cy="457200"/>
          </a:xfrm>
          <a:prstGeom prst="roundRect">
            <a:avLst>
              <a:gd name="adj" fmla="val 2000"/>
            </a:avLst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6583680" y="3163823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💰  Zero infrastructure cost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583680" y="3383279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Runs 100% locally — no cloud deployment, no new licenses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6400800" y="3675887"/>
            <a:ext cx="5394960" cy="4572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ounded Rectangle 66"/>
          <p:cNvSpPr/>
          <p:nvPr/>
        </p:nvSpPr>
        <p:spPr>
          <a:xfrm>
            <a:off x="6400800" y="3675887"/>
            <a:ext cx="54864" cy="457200"/>
          </a:xfrm>
          <a:prstGeom prst="roundRect">
            <a:avLst>
              <a:gd name="adj" fmla="val 2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6583680" y="3694175"/>
            <a:ext cx="50292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Segoe UI"/>
              </a:defRPr>
            </a:pPr>
            <a:r>
              <a:t>🔗  Works with existing M365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6583680" y="3913631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No migration needed — leverages current email and Teams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6400800" y="42976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RESPONSIBLE AI BY DESIGN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583680" y="4663440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🛡️  Hallucination Prevention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6583680" y="4846320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Agents report failure honestly — never fabricate information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583680" y="5065776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⚠️  Ambiguity Detection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583680" y="5248656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Uncertain results flagged as needs-review with clarifying questions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6583680" y="5468112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🕰  Temporal Awareness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6583680" y="5650992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Distinguishes current vs. historical information using timestamps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583680" y="5870448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🔒  Data Privacy &amp; Retention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6583680" y="6053328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All data local — auto-deleted after configurable period (default 3 days)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583680" y="6272783"/>
            <a:ext cx="5029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Segoe UI"/>
              </a:defRPr>
            </a:pPr>
            <a:r>
              <a:t>👤  Human in the Loop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583680" y="6455663"/>
            <a:ext cx="5029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AI provides summaries and recommendations — never acts autonomously</a:t>
            </a:r>
          </a:p>
        </p:txBody>
      </p:sp>
      <p:sp>
        <p:nvSpPr>
          <p:cNvPr id="81" name="Rounded Rectangle 80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Built with GitHub Copilot SDK  ·  Work IQ MCP  ·  Node.js + Express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64008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A5FA"/>
                </a:solidFill>
                <a:latin typeface="Segoe UI"/>
              </a:defRPr>
            </a:pPr>
            <a:r>
              <a:t>github.com/JohnMavic/Work_IQ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D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12191695" cy="82296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7315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Agent Zero —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CA3AF"/>
                </a:solidFill>
                <a:latin typeface="Segoe UI"/>
              </a:defRPr>
            </a:pPr>
            <a:r>
              <a:t>End-to-end data flow from Microsoft 365 to actionable task cards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097280"/>
            <a:ext cx="67665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17043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🌐  Browser (index.html)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48132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Dark-themed SPA  ·  Filter bar  ·  Task cards  ·  Agent interaction panels  ·  Step indicators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8745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HTTP :3000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194560"/>
            <a:ext cx="67665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67712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⚡  Express Server (server.js)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578608"/>
            <a:ext cx="5943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REST API  ·  Scan orchestration  ·  6 Skill files (docs/)  ·  Write queue  ·  Error handling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Copilot SDK (stdio)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46320" y="2971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fs read/write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291840"/>
            <a:ext cx="31089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868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🤖  GitHub Copilot SDK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75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@github/copilot-sdk v0.1.25</a:t>
            </a:r>
            <a:br/>
            <a:r>
              <a:t>Session manager  ·  AI orchestration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291840"/>
            <a:ext cx="31089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80" y="336499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📋  tasks.json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367588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Local JSON store  ·  No cloud</a:t>
            </a:r>
            <a:br/>
            <a:r>
              <a:t>Auto-cleanup after 3 days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06908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MCP (stdio)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" y="4389120"/>
            <a:ext cx="3108960" cy="77724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68680" y="4462272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🔌  Work IQ 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" y="4773168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9CA3AF"/>
                </a:solidFill>
                <a:latin typeface="Segoe UI"/>
              </a:defRPr>
            </a:pPr>
            <a:r>
              <a:t>@microsoft/workiq v0.2.8</a:t>
            </a:r>
            <a:br/>
            <a:r>
              <a:t>Microsoft Search API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1663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9CA3AF"/>
                </a:solidFill>
                <a:latin typeface="Segoe UI"/>
              </a:defRPr>
            </a:pPr>
            <a:r>
              <a:t>▼  Microsoft Search API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1520" y="5486400"/>
            <a:ext cx="6766560" cy="64008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55955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☁️  Microsoft 365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33872"/>
            <a:ext cx="54864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Email  ·  Teams  ·  Calendar  ·  SharePoint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46720" y="10972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TECH STACK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046720" y="1417320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183880" y="145389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Runtime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418320" y="145389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Node.js v22.15.0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46720" y="1764792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183880" y="1801368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Framework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418320" y="1801368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Express 5.2.1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046720" y="2112264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183880" y="2148840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AI Engine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8320" y="2148840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@github/copilot-sdk 0.1.25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046720" y="2459736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183880" y="2496312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M365 Access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418320" y="2496312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@microsoft/workiq 0.2.8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046720" y="2807208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183880" y="2843784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Frontend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418320" y="2843784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Single-file HTML/CSS/JS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8046720" y="3154680"/>
            <a:ext cx="3840480" cy="292608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12700">
            <a:solidFill>
              <a:srgbClr val="2A3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183880" y="3191256"/>
            <a:ext cx="12801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9CA3AF"/>
                </a:solidFill>
                <a:latin typeface="Segoe UI"/>
              </a:defRPr>
            </a:pPr>
            <a:r>
              <a:t>Storage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9418320" y="3191256"/>
            <a:ext cx="2286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FFFFFF"/>
                </a:solidFill>
                <a:latin typeface="Segoe UI"/>
              </a:defRPr>
            </a:pPr>
            <a:r>
              <a:t>Local JSON — no cloud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046720" y="3611880"/>
            <a:ext cx="3840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4FF"/>
                </a:solidFill>
                <a:latin typeface="Segoe UI"/>
              </a:defRPr>
            </a:pPr>
            <a:r>
              <a:t>AGENT ZERO IN ACTION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8046720" y="3931920"/>
            <a:ext cx="3840480" cy="2286000"/>
          </a:xfrm>
          <a:prstGeom prst="roundRect">
            <a:avLst>
              <a:gd name="adj" fmla="val 2000"/>
            </a:avLst>
          </a:prstGeom>
          <a:solidFill>
            <a:srgbClr val="131627"/>
          </a:solidFill>
          <a:ln w="254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9" name="Picture 48" descr="Screenshot 2026-03-04 1657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3977639"/>
            <a:ext cx="3749040" cy="2194560"/>
          </a:xfrm>
          <a:prstGeom prst="rect">
            <a:avLst/>
          </a:prstGeom>
        </p:spPr>
      </p:pic>
      <p:sp>
        <p:nvSpPr>
          <p:cNvPr id="50" name="Rounded Rectangle 49"/>
          <p:cNvSpPr/>
          <p:nvPr/>
        </p:nvSpPr>
        <p:spPr>
          <a:xfrm>
            <a:off x="0" y="6492240"/>
            <a:ext cx="12191695" cy="365760"/>
          </a:xfrm>
          <a:prstGeom prst="roundRect">
            <a:avLst>
              <a:gd name="adj" fmla="val 2000"/>
            </a:avLst>
          </a:prstGeom>
          <a:solidFill>
            <a:srgbClr val="0D1020"/>
          </a:solidFill>
          <a:ln w="12700">
            <a:solidFill>
              <a:srgbClr val="1E22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4864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9CA3AF"/>
                </a:solidFill>
                <a:latin typeface="Segoe UI"/>
              </a:defRPr>
            </a:pPr>
            <a:r>
              <a:t>GitHub Copilot SDK Enterprise Challenge  ·  March 2026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6510528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0A5FA"/>
                </a:solidFill>
                <a:latin typeface="Segoe UI"/>
              </a:defRPr>
            </a:pPr>
            <a:r>
              <a:t>github.com/JohnMavic/Work_IQ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